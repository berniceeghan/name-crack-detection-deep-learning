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Anton"/>
      <p:regular r:id="rId15"/>
    </p:embeddedFont>
    <p:embeddedFont>
      <p:font typeface="Fira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qP8vtFgj9t/8NA0ri2b6HcwgC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nton-regular.fntdata"/><Relationship Id="rId14" Type="http://schemas.openxmlformats.org/officeDocument/2006/relationships/slide" Target="slides/slide10.xml"/><Relationship Id="rId17" Type="http://schemas.openxmlformats.org/officeDocument/2006/relationships/font" Target="fonts/FiraSans-bold.fntdata"/><Relationship Id="rId16" Type="http://schemas.openxmlformats.org/officeDocument/2006/relationships/font" Target="fonts/FiraSans-regular.fntdata"/><Relationship Id="rId5" Type="http://schemas.openxmlformats.org/officeDocument/2006/relationships/slide" Target="slides/slide1.xml"/><Relationship Id="rId19" Type="http://schemas.openxmlformats.org/officeDocument/2006/relationships/font" Target="fonts/FiraSans-boldItalic.fntdata"/><Relationship Id="rId6" Type="http://schemas.openxmlformats.org/officeDocument/2006/relationships/slide" Target="slides/slide2.xml"/><Relationship Id="rId18" Type="http://schemas.openxmlformats.org/officeDocument/2006/relationships/font" Target="fonts/Fira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565525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660900" y="0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3896975"/>
            <a:ext cx="3565525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 txBox="1"/>
          <p:nvPr>
            <p:ph idx="12" type="sldNum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 txBox="1"/>
          <p:nvPr>
            <p:ph idx="12" type="sldNum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 txBox="1"/>
          <p:nvPr>
            <p:ph idx="12" type="sldNum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 txBox="1"/>
          <p:nvPr>
            <p:ph idx="12" type="sldNum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9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:notes"/>
          <p:cNvSpPr txBox="1"/>
          <p:nvPr>
            <p:ph idx="12" type="sldNum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0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:notes"/>
          <p:cNvSpPr txBox="1"/>
          <p:nvPr>
            <p:ph idx="12" type="sldNum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24.png"/><Relationship Id="rId7" Type="http://schemas.openxmlformats.org/officeDocument/2006/relationships/image" Target="../media/image18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19.png"/><Relationship Id="rId7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348" y="170021"/>
            <a:ext cx="5259705" cy="788955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/>
          <p:nvPr/>
        </p:nvSpPr>
        <p:spPr>
          <a:xfrm>
            <a:off x="793790" y="2532340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4450"/>
              <a:buFont typeface="Anton"/>
              <a:buNone/>
            </a:pPr>
            <a:r>
              <a:rPr b="0" i="0" lang="en-US" sz="44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Automated Crack Detection </a:t>
            </a:r>
            <a:r>
              <a:rPr lang="en-US" sz="4450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using</a:t>
            </a:r>
            <a:r>
              <a:rPr b="0" i="0" lang="en-US" sz="44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 Deep Learning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793790" y="4290060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A Comparative Study of Instance Segmentation Models:</a:t>
            </a:r>
            <a:endParaRPr sz="1750">
              <a:solidFill>
                <a:srgbClr val="E0D6DE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YOLO (Segmentation) vs Mask R-CNN (ResNet-50 + FPN) </a:t>
            </a:r>
            <a:endParaRPr sz="1750">
              <a:solidFill>
                <a:srgbClr val="E0D6DE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793790" y="5271016"/>
            <a:ext cx="3574613" cy="426244"/>
          </a:xfrm>
          <a:prstGeom prst="roundRect">
            <a:avLst>
              <a:gd fmla="val 6386" name="adj"/>
            </a:avLst>
          </a:prstGeom>
          <a:solidFill>
            <a:srgbClr val="4903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"/>
          <p:cNvSpPr/>
          <p:nvPr/>
        </p:nvSpPr>
        <p:spPr>
          <a:xfrm>
            <a:off x="929878" y="5339001"/>
            <a:ext cx="3302437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Fira Sans"/>
              <a:buNone/>
            </a:pPr>
            <a:r>
              <a:rPr b="0" i="0" lang="en-US" sz="14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CIVIL ENGINEERING · MACHINE LEARNING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clean.png" id="62" name="Google Shape;6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34113" y="342559"/>
            <a:ext cx="588618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3179" y="148709"/>
            <a:ext cx="5288042" cy="793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"/>
          <p:cNvSpPr/>
          <p:nvPr/>
        </p:nvSpPr>
        <p:spPr>
          <a:xfrm>
            <a:off x="694611" y="614601"/>
            <a:ext cx="4961811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3900"/>
              <a:buFont typeface="Anton"/>
              <a:buNone/>
            </a:pPr>
            <a:r>
              <a:rPr b="0" i="0" lang="en-US" sz="390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Introduction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694611" y="1668661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1950"/>
              <a:buFont typeface="Anton"/>
              <a:buNone/>
            </a:pPr>
            <a:r>
              <a:rPr b="0" i="0" lang="en-US" sz="19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The Problem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694611" y="2152412"/>
            <a:ext cx="3635335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Fira Sans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Concrete cracks are critical indicators of structural damage and safety risks. Yet traditional inspection methods are: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821674" y="1668661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1950"/>
              <a:buFont typeface="Anton"/>
              <a:buNone/>
            </a:pPr>
            <a:r>
              <a:rPr b="0" i="0" lang="en-US" sz="19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Our Approach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4821674" y="2152412"/>
            <a:ext cx="3635335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Fira Sans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This project explores </a:t>
            </a:r>
            <a:r>
              <a:rPr b="1" i="0" lang="en-US" sz="15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deep learning-based instance segmentation</a:t>
            </a:r>
            <a:r>
              <a:rPr b="0" i="0" lang="en-US" sz="15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to automate crack detection from images.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4821674" y="3240643"/>
            <a:ext cx="3635335" cy="2264450"/>
          </a:xfrm>
          <a:prstGeom prst="roundRect">
            <a:avLst>
              <a:gd fmla="val 1315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0032" y="3528298"/>
            <a:ext cx="248007" cy="19835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"/>
          <p:cNvSpPr/>
          <p:nvPr/>
        </p:nvSpPr>
        <p:spPr>
          <a:xfrm>
            <a:off x="5466398" y="3463766"/>
            <a:ext cx="2792254" cy="1785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Fira Sans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Objective:</a:t>
            </a:r>
            <a:r>
              <a:rPr b="0" i="0" lang="en-US" sz="155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Automatically detect and segment cracks, comparing YOLO26m-seg and Mask R-CNN + ResNet-50 to improve accuracy, efficiency, and scalability.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694611" y="5895618"/>
            <a:ext cx="2469118" cy="1719263"/>
          </a:xfrm>
          <a:prstGeom prst="roundRect">
            <a:avLst>
              <a:gd fmla="val 1732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892969" y="6093976"/>
            <a:ext cx="2072402" cy="325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nton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⏱</a:t>
            </a:r>
            <a:r>
              <a:rPr b="0" i="0" lang="en-US" sz="19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 Time-Consuming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892969" y="6523553"/>
            <a:ext cx="2072402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Fira Sans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Manual surveys slow down maintenance cycles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3337322" y="5895618"/>
            <a:ext cx="2469237" cy="1719263"/>
          </a:xfrm>
          <a:prstGeom prst="roundRect">
            <a:avLst>
              <a:gd fmla="val 1732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3535680" y="6093976"/>
            <a:ext cx="2072521" cy="325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nton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👁</a:t>
            </a:r>
            <a:r>
              <a:rPr b="0" i="0" lang="en-US" sz="19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 Subjective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3535680" y="6523553"/>
            <a:ext cx="2072521" cy="595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Fira Sans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Results vary across inspectors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5980152" y="5895618"/>
            <a:ext cx="2469118" cy="1719263"/>
          </a:xfrm>
          <a:prstGeom prst="roundRect">
            <a:avLst>
              <a:gd fmla="val 1732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6178510" y="6093976"/>
            <a:ext cx="2072402" cy="325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nton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⚠</a:t>
            </a:r>
            <a:r>
              <a:rPr b="0" i="0" lang="en-US" sz="19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 Error-Prone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6178510" y="6523553"/>
            <a:ext cx="2072402" cy="595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Fira Sans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Missed cracks lead to safety failures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clean.png" id="87" name="Google Shape;8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743296" y="247024"/>
            <a:ext cx="588618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/>
          <p:nvPr/>
        </p:nvSpPr>
        <p:spPr>
          <a:xfrm>
            <a:off x="694611" y="632698"/>
            <a:ext cx="6421160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3900"/>
              <a:buFont typeface="Anton"/>
              <a:buNone/>
            </a:pPr>
            <a:r>
              <a:rPr b="0" i="0" lang="en-US" sz="390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Methodology — Data Preparation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611" y="2265997"/>
            <a:ext cx="8437245" cy="4124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5" name="Google Shape;9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1249" y="3235292"/>
            <a:ext cx="305969" cy="30596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/>
          <p:nvPr/>
        </p:nvSpPr>
        <p:spPr>
          <a:xfrm>
            <a:off x="1333414" y="3684957"/>
            <a:ext cx="1966943" cy="245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Anton"/>
              <a:buNone/>
            </a:pPr>
            <a:r>
              <a:rPr b="0" i="0" lang="en-US" sz="15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Extract (Roboflow)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7511" y="3847230"/>
            <a:ext cx="305969" cy="30596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5555785" y="2740825"/>
            <a:ext cx="1966943" cy="245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Anton"/>
              <a:buNone/>
            </a:pPr>
            <a:r>
              <a:rPr b="0" i="0" lang="en-US" sz="15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Restructure &amp; Format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40405" y="5132300"/>
            <a:ext cx="305969" cy="30596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/>
          <p:nvPr/>
        </p:nvSpPr>
        <p:spPr>
          <a:xfrm>
            <a:off x="6526007" y="4681542"/>
            <a:ext cx="1966942" cy="245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Anton"/>
              <a:buNone/>
            </a:pPr>
            <a:r>
              <a:rPr b="0" i="0" lang="en-US" sz="15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Verify Consistency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94279" y="4555329"/>
            <a:ext cx="305969" cy="30596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2295031" y="5643158"/>
            <a:ext cx="1966943" cy="245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Anton"/>
              <a:buNone/>
            </a:pPr>
            <a:r>
              <a:rPr b="0" i="0" lang="en-US" sz="15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Preprocess &amp; Augment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94611" y="6585347"/>
            <a:ext cx="8437245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Fira Sans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A rigorous pipeline ensures clean, consistent data before any model training begins.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9623584" y="1686758"/>
            <a:ext cx="3070503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1950"/>
              <a:buFont typeface="Anton"/>
              <a:buNone/>
            </a:pPr>
            <a:r>
              <a:rPr b="0" i="0" lang="en-US" sz="19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Preprocessing &amp; Augmentation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9623584" y="2192179"/>
            <a:ext cx="4319707" cy="1521500"/>
          </a:xfrm>
          <a:prstGeom prst="roundRect">
            <a:avLst>
              <a:gd fmla="val 1957" name="adj"/>
            </a:avLst>
          </a:prstGeom>
          <a:solidFill>
            <a:srgbClr val="1F1F1F"/>
          </a:solidFill>
          <a:ln cap="flat" cmpd="sng" w="22850">
            <a:solidFill>
              <a:srgbClr val="575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9844802" y="2413397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Anton"/>
              <a:buNone/>
            </a:pPr>
            <a:r>
              <a:rPr b="0" i="0" lang="en-US" sz="19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Resolution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9844802" y="2897148"/>
            <a:ext cx="3877270" cy="595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Fira Sans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Images resized to </a:t>
            </a:r>
            <a:r>
              <a:rPr b="1" i="0" lang="en-US" sz="15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1024 × 1024</a:t>
            </a:r>
            <a:r>
              <a:rPr b="0" i="0" lang="en-US" sz="15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; initial pairs verified at 224×224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9623584" y="3887272"/>
            <a:ext cx="4319707" cy="1521500"/>
          </a:xfrm>
          <a:prstGeom prst="roundRect">
            <a:avLst>
              <a:gd fmla="val 1957" name="adj"/>
            </a:avLst>
          </a:prstGeom>
          <a:solidFill>
            <a:srgbClr val="1F1F1F"/>
          </a:solidFill>
          <a:ln cap="flat" cmpd="sng" w="22850">
            <a:solidFill>
              <a:srgbClr val="575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9844802" y="4108490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Anton"/>
              <a:buNone/>
            </a:pPr>
            <a:r>
              <a:rPr b="0" i="0" lang="en-US" sz="19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Augmentation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9844802" y="4592241"/>
            <a:ext cx="3877270" cy="595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Fira Sans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Horizontal flipping, blur &amp; grayscale transforms, CLAHE contrast enhancement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9623584" y="5582364"/>
            <a:ext cx="4319707" cy="1819156"/>
          </a:xfrm>
          <a:prstGeom prst="roundRect">
            <a:avLst>
              <a:gd fmla="val 1637" name="adj"/>
            </a:avLst>
          </a:prstGeom>
          <a:solidFill>
            <a:srgbClr val="1F1F1F"/>
          </a:solidFill>
          <a:ln cap="flat" cmpd="sng" w="22850">
            <a:solidFill>
              <a:srgbClr val="575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9844802" y="5803583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Anton"/>
              <a:buNone/>
            </a:pPr>
            <a:r>
              <a:rPr b="0" i="0" lang="en-US" sz="19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Quality Checks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9844802" y="6287333"/>
            <a:ext cx="3877270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Fira Sans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Image-mask pairing ensured; label consistency verified across YOLO segmentation format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clean.png" id="114" name="Google Shape;11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716000" y="274320"/>
            <a:ext cx="588618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744260" y="599480"/>
            <a:ext cx="8407718" cy="664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4150"/>
              <a:buFont typeface="Anton"/>
              <a:buNone/>
            </a:pPr>
            <a:r>
              <a:rPr b="0" i="0" lang="en-US" sz="41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Methodology — Mask R-CNN + ResNet-50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744260" y="1762244"/>
            <a:ext cx="2658070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2050"/>
              <a:buFont typeface="Anton"/>
              <a:buNone/>
            </a:pPr>
            <a:r>
              <a:rPr b="0" i="0" lang="en-US" sz="20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Model Architecture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721400" y="2295882"/>
            <a:ext cx="45720" cy="3543419"/>
          </a:xfrm>
          <a:prstGeom prst="rect">
            <a:avLst/>
          </a:prstGeom>
          <a:solidFill>
            <a:srgbClr val="FA95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1002625" y="2318742"/>
            <a:ext cx="2362319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Anton"/>
              <a:buNone/>
            </a:pPr>
            <a:r>
              <a:rPr b="0" i="0" lang="en-US" sz="20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Framework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1002625" y="2850356"/>
            <a:ext cx="2362319" cy="988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Fira Sans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Detectron2 — Mask R-CNN backbone with </a:t>
            </a:r>
            <a:r>
              <a:rPr b="1" i="0" lang="en-US" sz="16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ResNet-50 + FPN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591282" y="2295882"/>
            <a:ext cx="45720" cy="3543419"/>
          </a:xfrm>
          <a:prstGeom prst="rect">
            <a:avLst/>
          </a:prstGeom>
          <a:solidFill>
            <a:srgbClr val="FA95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3872508" y="2318742"/>
            <a:ext cx="2362438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Anton"/>
              <a:buNone/>
            </a:pPr>
            <a:r>
              <a:rPr b="0" i="0" lang="en-US" sz="20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Data Preprocessing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872508" y="2850356"/>
            <a:ext cx="2362438" cy="2966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Fira Sans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Removed inconsistent annotations, corrected category IDs, filtered invalid pairs. Masks converted from polygons to binary</a:t>
            </a:r>
            <a:r>
              <a:rPr lang="en-US" sz="16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461284" y="2295882"/>
            <a:ext cx="45720" cy="3543419"/>
          </a:xfrm>
          <a:prstGeom prst="rect">
            <a:avLst/>
          </a:prstGeom>
          <a:solidFill>
            <a:srgbClr val="FA95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742509" y="2318742"/>
            <a:ext cx="2362438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Anton"/>
              <a:buNone/>
            </a:pPr>
            <a:r>
              <a:rPr b="0" i="0" lang="en-US" sz="20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Training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6742509" y="2850356"/>
            <a:ext cx="2362438" cy="1977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Fira Sans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Transfer learning from pretrained weights. Optimizer: </a:t>
            </a:r>
            <a:r>
              <a:rPr b="1" i="0" lang="en-US" sz="16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Adam / AdamW</a:t>
            </a:r>
            <a:r>
              <a:rPr b="0" i="0" lang="en-US" sz="16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. Combined classification + box + mask loss.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721400" y="6192203"/>
            <a:ext cx="45720" cy="1236464"/>
          </a:xfrm>
          <a:prstGeom prst="rect">
            <a:avLst/>
          </a:prstGeom>
          <a:solidFill>
            <a:srgbClr val="FA95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1002625" y="6215062"/>
            <a:ext cx="2658070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Anton"/>
              <a:buNone/>
            </a:pPr>
            <a:r>
              <a:rPr b="0" i="0" lang="en-US" sz="20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Fine-Tuning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002625" y="6746677"/>
            <a:ext cx="8102322" cy="65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Fira Sans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Adapted to crack dataset — improved feature learning, detection accuracy, and segmentation quality.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1204" y="2465189"/>
            <a:ext cx="4262438" cy="42624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clean.png" id="135" name="Google Shape;13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44575" y="374333"/>
            <a:ext cx="588618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/>
          <p:nvPr/>
        </p:nvSpPr>
        <p:spPr>
          <a:xfrm>
            <a:off x="731758" y="738426"/>
            <a:ext cx="6072664" cy="653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4100"/>
              <a:buFont typeface="Anton"/>
              <a:buNone/>
            </a:pPr>
            <a:r>
              <a:rPr b="0" i="0" lang="en-US" sz="410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Methodology — YOLO26m-seg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2" name="Google Shape;1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758" y="2447568"/>
            <a:ext cx="4276844" cy="427684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5526286" y="1873687"/>
            <a:ext cx="2613779" cy="326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2050"/>
              <a:buFont typeface="Anton"/>
              <a:buNone/>
            </a:pPr>
            <a:r>
              <a:rPr b="0" i="0" lang="en-US" sz="20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Model Architecture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" name="Google Shape;14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6286" y="2443163"/>
            <a:ext cx="209074" cy="20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5526286" y="2749629"/>
            <a:ext cx="4093488" cy="22860"/>
          </a:xfrm>
          <a:prstGeom prst="rect">
            <a:avLst/>
          </a:prstGeom>
          <a:solidFill>
            <a:srgbClr val="FA95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5526286" y="2899886"/>
            <a:ext cx="2613779" cy="326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Anton"/>
              <a:buNone/>
            </a:pPr>
            <a:r>
              <a:rPr b="0" i="0" lang="en-US" sz="20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Backbone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526286" y="3419237"/>
            <a:ext cx="4093488" cy="642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00"/>
              <a:buFont typeface="Fira Sans"/>
              <a:buNone/>
            </a:pPr>
            <a:r>
              <a:rPr b="0" i="0" lang="en-US" sz="16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Feature extraction — edges and textures at multiple scales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" name="Google Shape;14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2536" y="2443163"/>
            <a:ext cx="209074" cy="20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/>
          <p:nvPr/>
        </p:nvSpPr>
        <p:spPr>
          <a:xfrm>
            <a:off x="9812536" y="2749629"/>
            <a:ext cx="4093607" cy="22860"/>
          </a:xfrm>
          <a:prstGeom prst="rect">
            <a:avLst/>
          </a:prstGeom>
          <a:solidFill>
            <a:srgbClr val="FA95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9812536" y="2899886"/>
            <a:ext cx="2613779" cy="326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Anton"/>
              <a:buNone/>
            </a:pPr>
            <a:r>
              <a:rPr b="0" i="0" lang="en-US" sz="20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Neck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9812536" y="3419237"/>
            <a:ext cx="4093607" cy="642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00"/>
              <a:buFont typeface="Fira Sans"/>
              <a:buNone/>
            </a:pPr>
            <a:r>
              <a:rPr b="0" i="0" lang="en-US" sz="16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Multi-scale feature fusion via FPN-like architecture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2" name="Google Shape;15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26286" y="4437578"/>
            <a:ext cx="209074" cy="20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/>
          <p:nvPr/>
        </p:nvSpPr>
        <p:spPr>
          <a:xfrm>
            <a:off x="5526286" y="4744045"/>
            <a:ext cx="8379857" cy="22860"/>
          </a:xfrm>
          <a:prstGeom prst="rect">
            <a:avLst/>
          </a:prstGeom>
          <a:solidFill>
            <a:srgbClr val="FA95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5526286" y="4894302"/>
            <a:ext cx="2613779" cy="326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Anton"/>
              <a:buNone/>
            </a:pPr>
            <a:r>
              <a:rPr b="0" i="0" lang="en-US" sz="20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Head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526286" y="5413653"/>
            <a:ext cx="8379857" cy="321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00"/>
              <a:buFont typeface="Fira Sans"/>
              <a:buNone/>
            </a:pPr>
            <a:r>
              <a:rPr b="0" i="0" lang="en-US" sz="16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Predicts bounding boxes + segmentation masks simultaneously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526286" y="6108621"/>
            <a:ext cx="8379857" cy="1165741"/>
          </a:xfrm>
          <a:prstGeom prst="roundRect">
            <a:avLst>
              <a:gd fmla="val 2691" name="adj"/>
            </a:avLst>
          </a:prstGeom>
          <a:solidFill>
            <a:srgbClr val="4903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35360" y="6415564"/>
            <a:ext cx="261342" cy="20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/>
          <p:nvPr/>
        </p:nvSpPr>
        <p:spPr>
          <a:xfrm>
            <a:off x="6205776" y="6353651"/>
            <a:ext cx="7491293" cy="642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Training:</a:t>
            </a:r>
            <a:r>
              <a:rPr b="0" i="0" lang="en-US" sz="16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AdamW optimizer · Cosine LR scheduling + warmup · Mixed precision (AMP) · Image size 1024 · Loss = box + classification + DFL + segmentation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clean.png" id="159" name="Google Shape;15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701713" y="331470"/>
            <a:ext cx="588618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537" y="156805"/>
            <a:ext cx="5277326" cy="791598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/>
          <p:nvPr/>
        </p:nvSpPr>
        <p:spPr>
          <a:xfrm>
            <a:off x="731758" y="631031"/>
            <a:ext cx="7076956" cy="653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4100"/>
              <a:buFont typeface="Anton"/>
              <a:buNone/>
            </a:pPr>
            <a:r>
              <a:rPr b="0" i="0" lang="en-US" sz="410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Results — Mask R-CNN + ResNet-50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731758" y="1678067"/>
            <a:ext cx="3719751" cy="689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5400"/>
              <a:buFont typeface="Anton"/>
              <a:buNone/>
            </a:pPr>
            <a:r>
              <a:rPr b="0" i="0" lang="en-US" sz="54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0.35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284684" y="2617113"/>
            <a:ext cx="2613779" cy="326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Anton"/>
              <a:buNone/>
            </a:pPr>
            <a:r>
              <a:rPr b="0" i="0" lang="en-US" sz="20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BBOX mAP (0.50:0.95)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731758" y="3059311"/>
            <a:ext cx="3719751" cy="321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00"/>
              <a:buFont typeface="Fira Sans"/>
              <a:buNone/>
            </a:pPr>
            <a:r>
              <a:rPr b="0" i="0" lang="en-US" sz="16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Strong overall crack localization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692372" y="1678067"/>
            <a:ext cx="3719870" cy="689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5400"/>
              <a:buFont typeface="Anton"/>
              <a:buNone/>
            </a:pPr>
            <a:r>
              <a:rPr b="0" i="0" lang="en-US" sz="54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0.64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245418" y="2617113"/>
            <a:ext cx="2613779" cy="326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Anton"/>
              <a:buNone/>
            </a:pPr>
            <a:r>
              <a:rPr b="0" i="0" lang="en-US" sz="20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BBOX mAP@50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692372" y="3059311"/>
            <a:ext cx="3719870" cy="321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00"/>
              <a:buFont typeface="Fira Sans"/>
              <a:buNone/>
            </a:pPr>
            <a:r>
              <a:rPr b="0" i="0" lang="en-US" sz="16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detection at lower IoU threshold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2712006" y="3870722"/>
            <a:ext cx="3719870" cy="689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5400"/>
              <a:buFont typeface="Anton"/>
              <a:buNone/>
            </a:pPr>
            <a:r>
              <a:rPr b="0" i="0" lang="en-US" sz="54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0.10-0.18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3265051" y="4809768"/>
            <a:ext cx="2613779" cy="326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Anton"/>
              <a:buNone/>
            </a:pPr>
            <a:r>
              <a:rPr b="0" i="0" lang="en-US" sz="20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MASK Map@50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2712006" y="5251966"/>
            <a:ext cx="3719870" cy="642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Limited segmentation precision</a:t>
            </a:r>
            <a:endParaRPr sz="1600">
              <a:solidFill>
                <a:srgbClr val="E0D6DE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ctr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00"/>
              <a:buFont typeface="Fira Sans"/>
              <a:buNone/>
            </a:pPr>
            <a:r>
              <a:t/>
            </a:r>
            <a:endParaRPr sz="1600">
              <a:solidFill>
                <a:srgbClr val="E0D6DE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731758" y="6111478"/>
            <a:ext cx="7680484" cy="1487091"/>
          </a:xfrm>
          <a:prstGeom prst="roundRect">
            <a:avLst>
              <a:gd fmla="val 2109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8" name="Google Shape;17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0832" y="6418421"/>
            <a:ext cx="261342" cy="20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/>
          <p:nvPr/>
        </p:nvSpPr>
        <p:spPr>
          <a:xfrm>
            <a:off x="1411250" y="6356497"/>
            <a:ext cx="6792000" cy="13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Detection performance is strong and consistent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• Segmentation performance is lower due to thin crack structures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"/>
              <a:buNone/>
            </a:pPr>
            <a:r>
              <a:rPr lang="en-US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• Model produces reliable bounding boxes but less precise masks 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descr="logo_clean.png" id="180" name="Google Shape;18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58850" y="260033"/>
            <a:ext cx="588618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/>
          <p:nvPr/>
        </p:nvSpPr>
        <p:spPr>
          <a:xfrm>
            <a:off x="1446014" y="522684"/>
            <a:ext cx="4252913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3300"/>
              <a:buFont typeface="Anton"/>
              <a:buNone/>
            </a:pPr>
            <a:r>
              <a:rPr b="0" i="0" lang="en-US" sz="330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Results — YOLO26m-seg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1446014" y="1105257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1650"/>
              <a:buFont typeface="Anton"/>
              <a:buNone/>
            </a:pPr>
            <a:r>
              <a:rPr b="0" i="0" lang="en-US" sz="16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Detection Performance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1446014" y="1647349"/>
            <a:ext cx="5227201" cy="212646"/>
          </a:xfrm>
          <a:prstGeom prst="roundRect">
            <a:avLst>
              <a:gd fmla="val 12000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1446014" y="1647349"/>
            <a:ext cx="4599861" cy="212646"/>
          </a:xfrm>
          <a:prstGeom prst="roundRect">
            <a:avLst>
              <a:gd fmla="val 12000" name="adj"/>
            </a:avLst>
          </a:prstGeom>
          <a:solidFill>
            <a:srgbClr val="FA95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6800731" y="1647349"/>
            <a:ext cx="434697" cy="21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Anton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86%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1446014" y="2040612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Anton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Precision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1446014" y="2382798"/>
            <a:ext cx="57894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Fira Sans"/>
              <a:buNone/>
            </a:pPr>
            <a:r>
              <a:rPr b="0" i="0" lang="en-US" sz="13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Low false positives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7394853" y="1647349"/>
            <a:ext cx="5227201" cy="212646"/>
          </a:xfrm>
          <a:prstGeom prst="roundRect">
            <a:avLst>
              <a:gd fmla="val 12000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7394853" y="1647349"/>
            <a:ext cx="4077176" cy="212646"/>
          </a:xfrm>
          <a:prstGeom prst="roundRect">
            <a:avLst>
              <a:gd fmla="val 12000" name="adj"/>
            </a:avLst>
          </a:prstGeom>
          <a:solidFill>
            <a:srgbClr val="FA95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12749570" y="1647349"/>
            <a:ext cx="434697" cy="21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Anton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77%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7394853" y="2040612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Anton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Recall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7394853" y="2382798"/>
            <a:ext cx="57894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Fira Sans"/>
              <a:buNone/>
            </a:pPr>
            <a:r>
              <a:rPr b="0" i="0" lang="en-US" sz="13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Detects most crack instances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1446014" y="2961084"/>
            <a:ext cx="5227201" cy="212646"/>
          </a:xfrm>
          <a:prstGeom prst="roundRect">
            <a:avLst>
              <a:gd fmla="val 12000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1446014" y="2961084"/>
            <a:ext cx="4495324" cy="212646"/>
          </a:xfrm>
          <a:prstGeom prst="roundRect">
            <a:avLst>
              <a:gd fmla="val 12000" name="adj"/>
            </a:avLst>
          </a:prstGeom>
          <a:solidFill>
            <a:srgbClr val="FA95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6800731" y="2961084"/>
            <a:ext cx="434697" cy="21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Anton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8</a:t>
            </a:r>
            <a:r>
              <a:rPr lang="en-US" sz="1650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5</a:t>
            </a:r>
            <a:r>
              <a:rPr b="0" i="0" lang="en-US" sz="16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%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1446014" y="3354348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Anton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mAP50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1446014" y="3696533"/>
            <a:ext cx="57894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Fira Sans"/>
              <a:buNone/>
            </a:pPr>
            <a:r>
              <a:rPr b="0" i="0" lang="en-US" sz="13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Excellent detection accuracy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7394853" y="2961084"/>
            <a:ext cx="5227201" cy="212646"/>
          </a:xfrm>
          <a:prstGeom prst="roundRect">
            <a:avLst>
              <a:gd fmla="val 12000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7394853" y="2961084"/>
            <a:ext cx="3449836" cy="212646"/>
          </a:xfrm>
          <a:prstGeom prst="roundRect">
            <a:avLst>
              <a:gd fmla="val 12000" name="adj"/>
            </a:avLst>
          </a:prstGeom>
          <a:solidFill>
            <a:srgbClr val="FA95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12749570" y="2961084"/>
            <a:ext cx="434697" cy="21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Anton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6</a:t>
            </a:r>
            <a:r>
              <a:rPr lang="en-US" sz="1650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  <a:r>
              <a:rPr b="0" i="0" lang="en-US" sz="16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%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7394853" y="3354348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Anton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mAP50-95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7394853" y="3696533"/>
            <a:ext cx="57894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Fira Sans"/>
              <a:buNone/>
            </a:pPr>
            <a:r>
              <a:rPr b="0" i="0" lang="en-US" sz="13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Strong across IoU thresholds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1446014" y="4125992"/>
            <a:ext cx="2319933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1650"/>
              <a:buFont typeface="Anton"/>
              <a:buNone/>
            </a:pPr>
            <a:r>
              <a:rPr b="0" i="0" lang="en-US" sz="16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Segmentation Performance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1446014" y="4668083"/>
            <a:ext cx="5227201" cy="212646"/>
          </a:xfrm>
          <a:prstGeom prst="roundRect">
            <a:avLst>
              <a:gd fmla="val 12000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1446014" y="4668083"/>
            <a:ext cx="3868103" cy="212646"/>
          </a:xfrm>
          <a:prstGeom prst="roundRect">
            <a:avLst>
              <a:gd fmla="val 12000" name="adj"/>
            </a:avLst>
          </a:prstGeom>
          <a:solidFill>
            <a:srgbClr val="FA95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6800731" y="4668083"/>
            <a:ext cx="434697" cy="21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Anton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7</a:t>
            </a:r>
            <a:r>
              <a:rPr lang="en-US" sz="1650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r>
              <a:rPr b="0" i="0" lang="en-US" sz="16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%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1446014" y="5061347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Anton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Precision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1446014" y="5403533"/>
            <a:ext cx="57894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Fira Sans"/>
              <a:buNone/>
            </a:pPr>
            <a:r>
              <a:rPr b="0" i="0" lang="en-US" sz="13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Segmentation mask precision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7394853" y="4668083"/>
            <a:ext cx="5227201" cy="212646"/>
          </a:xfrm>
          <a:prstGeom prst="roundRect">
            <a:avLst>
              <a:gd fmla="val 12000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7394853" y="4668083"/>
            <a:ext cx="3397568" cy="212646"/>
          </a:xfrm>
          <a:prstGeom prst="roundRect">
            <a:avLst>
              <a:gd fmla="val 12000" name="adj"/>
            </a:avLst>
          </a:prstGeom>
          <a:solidFill>
            <a:srgbClr val="FA95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12749570" y="4668083"/>
            <a:ext cx="434697" cy="21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Anton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6</a:t>
            </a:r>
            <a:r>
              <a:rPr lang="en-US" sz="1650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4</a:t>
            </a:r>
            <a:r>
              <a:rPr b="0" i="0" lang="en-US" sz="16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%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7394853" y="5061347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Anton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Recall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7394853" y="5403533"/>
            <a:ext cx="57894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Fira Sans"/>
              <a:buNone/>
            </a:pPr>
            <a:r>
              <a:rPr b="0" i="0" lang="en-US" sz="13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Mask-level crack coverage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1446014" y="5981819"/>
            <a:ext cx="5261967" cy="212646"/>
          </a:xfrm>
          <a:prstGeom prst="roundRect">
            <a:avLst>
              <a:gd fmla="val 12000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1446014" y="5981819"/>
            <a:ext cx="3209687" cy="212646"/>
          </a:xfrm>
          <a:prstGeom prst="roundRect">
            <a:avLst>
              <a:gd fmla="val 12000" name="adj"/>
            </a:avLst>
          </a:prstGeom>
          <a:solidFill>
            <a:srgbClr val="FA95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6835497" y="5981819"/>
            <a:ext cx="399931" cy="21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Anton"/>
              <a:buNone/>
            </a:pPr>
            <a:r>
              <a:rPr lang="en-US" sz="1650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57</a:t>
            </a:r>
            <a:r>
              <a:rPr b="0" i="0" lang="en-US" sz="16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%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1446014" y="6375083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Anton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mAP50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1446014" y="6717268"/>
            <a:ext cx="57894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Fira Sans"/>
              <a:buNone/>
            </a:pPr>
            <a:r>
              <a:rPr b="0" i="0" lang="en-US" sz="13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Moderate segmentation quality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7394853" y="5981819"/>
            <a:ext cx="5227201" cy="212646"/>
          </a:xfrm>
          <a:prstGeom prst="roundRect">
            <a:avLst>
              <a:gd fmla="val 12000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7394853" y="5981819"/>
            <a:ext cx="1306711" cy="212646"/>
          </a:xfrm>
          <a:prstGeom prst="roundRect">
            <a:avLst>
              <a:gd fmla="val 12000" name="adj"/>
            </a:avLst>
          </a:prstGeom>
          <a:solidFill>
            <a:srgbClr val="FA95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12749570" y="5981819"/>
            <a:ext cx="434697" cy="21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Anton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2</a:t>
            </a:r>
            <a:r>
              <a:rPr lang="en-US" sz="1650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r>
              <a:rPr b="0" i="0" lang="en-US" sz="16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%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7394853" y="6375083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Anton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mAP50-95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7394853" y="6717268"/>
            <a:ext cx="57894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Fira Sans"/>
              <a:buNone/>
            </a:pPr>
            <a:r>
              <a:rPr b="0" i="0" lang="en-US" sz="13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Struggles with fine boundaries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1446014" y="7098863"/>
            <a:ext cx="11738253" cy="607933"/>
          </a:xfrm>
          <a:prstGeom prst="roundRect">
            <a:avLst>
              <a:gd fmla="val 4198" name="adj"/>
            </a:avLst>
          </a:prstGeom>
          <a:solidFill>
            <a:srgbClr val="4B3F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0" name="Google Shape;2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6035" y="7337822"/>
            <a:ext cx="212646" cy="17002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7"/>
          <p:cNvSpPr/>
          <p:nvPr/>
        </p:nvSpPr>
        <p:spPr>
          <a:xfrm>
            <a:off x="1998702" y="7268885"/>
            <a:ext cx="1101554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Fira San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Detection significantly outperforms segmentation — fine boundary delineation remains the key challenge.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clean.png" id="232" name="Google Shape;23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01713" y="417195"/>
            <a:ext cx="588618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"/>
          <p:cNvSpPr/>
          <p:nvPr/>
        </p:nvSpPr>
        <p:spPr>
          <a:xfrm>
            <a:off x="793790" y="1502212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4450"/>
              <a:buFont typeface="Anton"/>
              <a:buNone/>
            </a:pPr>
            <a:r>
              <a:rPr b="0" i="0" lang="en-US" sz="44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Challenges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793790" y="277796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A95AE"/>
              </a:buClr>
              <a:buSzPts val="2200"/>
              <a:buFont typeface="Anton"/>
              <a:buNone/>
            </a:pPr>
            <a:r>
              <a:rPr b="0" i="0" lang="en-US" sz="2200" u="none" cap="none" strike="noStrike">
                <a:solidFill>
                  <a:srgbClr val="FA95AE"/>
                </a:solidFill>
                <a:latin typeface="Anton"/>
                <a:ea typeface="Anton"/>
                <a:cs typeface="Anton"/>
                <a:sym typeface="Anton"/>
              </a:rPr>
              <a:t>Mask R-CNN</a:t>
            </a:r>
            <a:r>
              <a:rPr b="0" i="0" lang="en-US" sz="220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 Challenges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0" name="Google Shape;2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00" y="3398758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8"/>
          <p:cNvSpPr/>
          <p:nvPr/>
        </p:nvSpPr>
        <p:spPr>
          <a:xfrm>
            <a:off x="1530906" y="3387447"/>
            <a:ext cx="550759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Thin cracks are harder to segment accurately due to low pixel coverage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" name="Google Shape;2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00" y="4578191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8"/>
          <p:cNvSpPr/>
          <p:nvPr/>
        </p:nvSpPr>
        <p:spPr>
          <a:xfrm>
            <a:off x="1530906" y="4566880"/>
            <a:ext cx="550759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Annotation inconsistencies across datasets affect mask quality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4" name="Google Shape;2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00" y="5757624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8"/>
          <p:cNvSpPr/>
          <p:nvPr/>
        </p:nvSpPr>
        <p:spPr>
          <a:xfrm>
            <a:off x="1530906" y="5746313"/>
            <a:ext cx="550759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Segmentation masks are less precise than bounding boxes — model struggles with irregular crack shapes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7599521" y="277796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A95AE"/>
              </a:buClr>
              <a:buSzPts val="2200"/>
              <a:buFont typeface="Anton"/>
              <a:buNone/>
            </a:pPr>
            <a:r>
              <a:rPr b="0" i="0" lang="en-US" sz="2200" u="none" cap="none" strike="noStrike">
                <a:solidFill>
                  <a:srgbClr val="FA95AE"/>
                </a:solidFill>
                <a:latin typeface="Anton"/>
                <a:ea typeface="Anton"/>
                <a:cs typeface="Anton"/>
                <a:sym typeface="Anton"/>
              </a:rPr>
              <a:t>YOLO26m-seg</a:t>
            </a:r>
            <a:r>
              <a:rPr b="0" i="0" lang="en-US" sz="220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 Challenges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7" name="Google Shape;2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4532" y="3398758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8"/>
          <p:cNvSpPr/>
          <p:nvPr/>
        </p:nvSpPr>
        <p:spPr>
          <a:xfrm>
            <a:off x="8336637" y="3387447"/>
            <a:ext cx="550759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Thin and small cracks are difficult to segment due to limited spatial resolution at those scales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9" name="Google Shape;2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4532" y="4578191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8"/>
          <p:cNvSpPr/>
          <p:nvPr/>
        </p:nvSpPr>
        <p:spPr>
          <a:xfrm>
            <a:off x="8336637" y="4566880"/>
            <a:ext cx="550759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Class imbalance causes the model to become biased toward background regions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1" name="Google Shape;2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4532" y="5757624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8"/>
          <p:cNvSpPr/>
          <p:nvPr/>
        </p:nvSpPr>
        <p:spPr>
          <a:xfrm>
            <a:off x="8336637" y="5746313"/>
            <a:ext cx="550759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Model confuses cracks with shadows, edges, joints, and surface texture patterns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clean.png" id="253" name="Google Shape;25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01713" y="374333"/>
            <a:ext cx="588618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0" name="Google Shape;2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51" y="154067"/>
            <a:ext cx="5280898" cy="7921347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9"/>
          <p:cNvSpPr/>
          <p:nvPr/>
        </p:nvSpPr>
        <p:spPr>
          <a:xfrm>
            <a:off x="6205776" y="571738"/>
            <a:ext cx="5138976" cy="642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250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4000"/>
              <a:buFont typeface="Anton"/>
              <a:buNone/>
            </a:pPr>
            <a:r>
              <a:rPr b="0" i="0" lang="en-US" sz="400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Future Enhancements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2" name="Google Shape;26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5776" y="1493401"/>
            <a:ext cx="513874" cy="51387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9"/>
          <p:cNvSpPr/>
          <p:nvPr/>
        </p:nvSpPr>
        <p:spPr>
          <a:xfrm>
            <a:off x="6205776" y="2240042"/>
            <a:ext cx="2569488" cy="321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00"/>
              <a:buFont typeface="Anton"/>
              <a:buNone/>
            </a:pPr>
            <a:r>
              <a:rPr b="0" i="0" lang="en-US" sz="20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Expand the Dataset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6205776" y="2672834"/>
            <a:ext cx="7705249" cy="626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00"/>
              <a:buFont typeface="Fira Sans"/>
              <a:buNone/>
            </a:pPr>
            <a:r>
              <a:rPr b="0" i="0" lang="en-US" sz="16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Increase volume via synthetic crack generation (e.g., Supervisely) and real-world image collection across diverse environments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5" name="Google Shape;26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05776" y="3672364"/>
            <a:ext cx="513874" cy="513874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9"/>
          <p:cNvSpPr/>
          <p:nvPr/>
        </p:nvSpPr>
        <p:spPr>
          <a:xfrm>
            <a:off x="6205776" y="4419005"/>
            <a:ext cx="2569488" cy="321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00"/>
              <a:buFont typeface="Anton"/>
              <a:buNone/>
            </a:pPr>
            <a:r>
              <a:rPr b="0" i="0" lang="en-US" sz="20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Larger &amp; Hybrid Models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205776" y="4851797"/>
            <a:ext cx="7705249" cy="626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00"/>
              <a:buFont typeface="Fira Sans"/>
              <a:buNone/>
            </a:pPr>
            <a:r>
              <a:rPr b="0" i="0" lang="en-US" sz="16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Experiment with YOLOv26l/x for higher capacity and hybrid CNN + Transformer architectures for richer feature learning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8" name="Google Shape;26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5776" y="5851327"/>
            <a:ext cx="513874" cy="513874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9"/>
          <p:cNvSpPr/>
          <p:nvPr/>
        </p:nvSpPr>
        <p:spPr>
          <a:xfrm>
            <a:off x="6205776" y="6597968"/>
            <a:ext cx="2569488" cy="321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00"/>
              <a:buFont typeface="Anton"/>
              <a:buNone/>
            </a:pPr>
            <a:r>
              <a:rPr b="0" i="0" lang="en-US" sz="20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Real-World Deployment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6205776" y="7030760"/>
            <a:ext cx="7705249" cy="626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00"/>
              <a:buFont typeface="Fira Sans"/>
              <a:buNone/>
            </a:pPr>
            <a:r>
              <a:rPr b="0" i="0" lang="en-US" sz="16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Integrate models into mobile or drone-based inspection systems for scalable, on-site structural monitoring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clean.png" id="271" name="Google Shape;271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773150" y="202883"/>
            <a:ext cx="588618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"/>
          <p:cNvSpPr/>
          <p:nvPr/>
        </p:nvSpPr>
        <p:spPr>
          <a:xfrm>
            <a:off x="793790" y="73533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4450"/>
              <a:buFont typeface="Anton"/>
              <a:buNone/>
            </a:pPr>
            <a:r>
              <a:rPr b="0" i="0" lang="en-US" sz="4450" u="none" cap="none" strike="noStrike">
                <a:solidFill>
                  <a:srgbClr val="FA95AF"/>
                </a:solidFill>
                <a:latin typeface="Anton"/>
                <a:ea typeface="Anton"/>
                <a:cs typeface="Anton"/>
                <a:sym typeface="Anton"/>
              </a:rPr>
              <a:t>Key Takeaways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793790" y="2039422"/>
            <a:ext cx="2610088" cy="3212187"/>
          </a:xfrm>
          <a:prstGeom prst="roundRect">
            <a:avLst>
              <a:gd fmla="val 1304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1020604" y="2266236"/>
            <a:ext cx="215646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Anton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YOLO26m-seg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1020604" y="2847380"/>
            <a:ext cx="215646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mAP50 </a:t>
            </a:r>
            <a:r>
              <a:rPr b="1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0.8</a:t>
            </a:r>
            <a:r>
              <a:rPr b="1" lang="en-US" sz="17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5</a:t>
            </a: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— excellent detection speed and accuracy, suitable for practical deployment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3630692" y="2039422"/>
            <a:ext cx="2610207" cy="3212187"/>
          </a:xfrm>
          <a:prstGeom prst="roundRect">
            <a:avLst>
              <a:gd fmla="val 1304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3857506" y="2266236"/>
            <a:ext cx="215657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Anton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Mask R-CNN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3857506" y="2847380"/>
            <a:ext cx="215657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mAP@50  </a:t>
            </a:r>
            <a:r>
              <a:rPr b="1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0.</a:t>
            </a:r>
            <a:r>
              <a:rPr b="1" lang="en-US" sz="17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64</a:t>
            </a: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— stable training with strong localization; segmentation quality improvable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6467713" y="2039422"/>
            <a:ext cx="2610207" cy="3212187"/>
          </a:xfrm>
          <a:prstGeom prst="roundRect">
            <a:avLst>
              <a:gd fmla="val 1304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6694527" y="2266236"/>
            <a:ext cx="215657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Anton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Core Limitation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6694527" y="2847380"/>
            <a:ext cx="2156579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Both models struggle with thin cracks and precise boundary segmentation at tight IoU thresholds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793790" y="5478423"/>
            <a:ext cx="8284131" cy="1760577"/>
          </a:xfrm>
          <a:prstGeom prst="roundRect">
            <a:avLst>
              <a:gd fmla="val 1933" name="adj"/>
            </a:avLst>
          </a:prstGeom>
          <a:solidFill>
            <a:srgbClr val="3E3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1020604" y="570523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Anton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Anton"/>
                <a:ea typeface="Anton"/>
                <a:cs typeface="Anton"/>
                <a:sym typeface="Anton"/>
              </a:rPr>
              <a:t>Path Forward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1020604" y="6286381"/>
            <a:ext cx="783050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Larger datasets, hybrid architectures, and real-world deployment will close the gap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0" name="Google Shape;2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8943" y="2536627"/>
            <a:ext cx="4205168" cy="4205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clean.png" id="291" name="Google Shape;29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44588" y="188595"/>
            <a:ext cx="588618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2026-04-16T11:18:36Z</dcterms:created>
  <dc:creator>dell</dc:creator>
</cp:coreProperties>
</file>